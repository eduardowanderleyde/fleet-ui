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8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3" r:id="rId24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  <Relationship Id="rId24" Type="http://schemas.openxmlformats.org/officeDocument/2006/relationships/slide" Target="slides/slide18.xml"/>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B1E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05840"/>
            <a:ext cx="78638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 para Experimentos de Repetibilidade em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Robótica Móvel com ROS 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30632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Fleet UI — Defesa de Dissertação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20624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Eduardo Wanderley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Mestrado em Robótica — PPGCC/CIn — UFPE —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 Motivação e contexto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 Objetivos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 Arquitetura do sistema + Agentes de IA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 Papéis experimentais (MUUT / FUUT / SU)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05. Metodologia — record / replay / análise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06. Perguntas de pesquisa e hipóteses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07. Resultados e pilotos (FUUT e missão)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08. Desafios técnicos + achado Cyclone DDS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09. Trabalho futuro e conclusão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Motivação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Reprodutibilidade é um pilar da ciência experimental em robótica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um resultado só tem validade científica se puder ser replicado.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Sistemas multi-robô adicionam complexidade real: sincronização, sensores heterogêneos, coordenação.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Lacuna identificada: faltam frameworks open-source que integrem controle de frota, coleta síncrona de dados e análise de repetibilidade num pacote só.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interfaces nativas do ROS 2 são complexas demais pro dia a dia de um pesquisador.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 completo — orquestração, coleta, análise — com interface web e arquitetura de papéis pensada pra testbeds distribuídos.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Geral: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desenvolver e validar um framework de orquestração multi-robô para experimentos reprodutíveis de navegação autônoma com ROS 2.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Orquestrador ROS 2 com serviços de record / replay / go_to_point e controle de papéis.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Coleta síncrona de dados sensoriais em MCAP (scan, odom, IMU, pose).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de análise: RMSE par a par, comprimento de percurso, overlay visual.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 web que controla o experimento sem expor o ROS 2.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Validação em simulação Gazebo, preparando caminho para hardware real.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Arquitetura do Sistema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 web (Fleet UI):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+ Vite, backend FastAPI, Missão Coordenada, painel de agentes de IA.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Orquestrador (fleet_orchestrator):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serviços ROS 2 — record / replay / go_to_point, suporte multi-robô.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Ativação sequencial: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robôs simultâneos com Nav2 completo causam salto de relógio simulado (TF inválido) — ativação 1 robô por vez, 70% de sucesso.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Coleta de dados: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bags MCAP por robô, QoS adaptado (scan / odom / imu / pose).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Navegação: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Nav2 + SLAM Toolbox, TF namespaceado por robô.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Simulação: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Gazebo Harmonic, TurtleBot4, xacro namespaceado.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 de Agentes de IA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Planejamento, execução e análise via linguagem natural (API Claude/Anthropic).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Planner: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interpreta o pedido em português e decide quais ferramentas chamar.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Executor: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chama os mesmos endpoints REST do frontend; sem acesso direto ao ROS 2; cada agente escopado a 1 robô.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Analyst: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lê o summary.json (RMSE, duração); leitura pura, nunca executa nada.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 central: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agente só atua no próprio robô — um agente nunca move o robô de outro.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Papéis Experimentais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MUUT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(Mobile Unit Under Test/Tasking): navega autonomamente, grava e reproduz rotas, coleta seus próprios sensores.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FUUT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(Fixed Unit Under Test/Tasking): posição fixa, observa a passagem do MUUT, coleta dados de perspectiva externa. Não recebe comandos de navegação.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(Support Unit): infraestrutura de rede/monitoramento, relay ou gateway ROS 2. Sem navegação.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Restrição estrutural: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pedidos de navegação vindos de FUUT/SU são bloqueados no orquestrador — não é convenção, é regra aplicada em código.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Metodologia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Record: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waypoints via Nav2; TF vira YAML de rota + bag MCAP (baseline).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Replay ×N: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mesma rota reproduzida N vezes via FollowWaypoints.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Análise: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odometria dos bags vira RMSE par a par + overlay visual.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Resultado: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summary.json consolidado (RMSE, duração, erro de endpoint).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 repetições, o robô volta explicitamente ao ponto de partida (go_to_point) — condição necessária para comparação justa.</a:t>
            </a:r>
            <a:endParaRPr lang="en-US" sz="1300" dirty="0"/>
          </a:p>
        </p:txBody>
      </p:sp>
      <p:pic>
        <p:nvPicPr>
          <p:cNvPr id="6" name="Image 2" descr="/tmp/cbsoft_build/assets/rmse_conceito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394960" y="1371600"/>
            <a:ext cx="3291840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Perguntas de Pesquisa e Hipóteses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PP1 — Automação: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Corroborada — serviços ROS 2 + orquestrador bastam, sem código extra.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PP2 — Repetibilidade: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Corroborada — RMSE 3,35 cm &lt; 25 cm (N=10).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PP3 — Fora do protocolo: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 exploratória — causalidade não estabelecida.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PP4 — Custo de engenharia: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 funcional — esforço percebido não medido.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Resumo: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perguntas endereçadas, 2 corroboradas com número, 2 com evidência parcial — nenhuma refutada.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Resultados — Validação em Simulação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Campanha final: dissertation_clean01 — 10 réplicas independentes, relançadas do zero a cada uma.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DB1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RMSE médio: 3,35 cm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(máx. 4,76 cm) contra a execução de referência.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DB1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 final médio: 1,64 cm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Duração média: 17,51 s (desvio 0,36 s).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Validação complementar (dissertacao_teste1): mesmo mecanismo de navegação → RMSE 2,0 cm; mecanismo diferente → RMSE 13,9 cm (~7x maior).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métrica certa precisa comparar execuções que usam o mesmo mecanismo de navegação.</a:t>
            </a:r>
            <a:endParaRPr lang="en-US" sz="1300" dirty="0"/>
          </a:p>
        </p:txBody>
      </p:sp>
      <p:pic>
        <p:nvPicPr>
          <p:cNvPr id="6" name="Image 2" descr="/tmp/cbsoft_build/assets/overlay_trajetorias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394960" y="1188720"/>
            <a:ext cx="3383280" cy="28346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 de Trajetória: Odom, SLAM e Ground Truth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Comparação contra a pose verdadeira do simulador (ground truth), 3 rotas de complexidade crescente, N=10 cada.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 de /odom: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cresce com a rota — de ~0 cm (curta) a 14,27 cm (loop fechado).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 de /pose (SLAM):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baixo e constante nas 3 rotas (~2–3 cm).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rota curta da campanha principal, a escolha da fonte não importa; em rotas longas, passa a ser decisiva.</a:t>
            </a:r>
            <a:endParaRPr lang="en-US" sz="1300" dirty="0"/>
          </a:p>
        </p:txBody>
      </p:sp>
      <p:pic>
        <p:nvPicPr>
          <p:cNvPr id="6" name="Image 2" descr="/tmp/cbsoft_build/assets/fonte_trajetoria_rms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394960" y="1371600"/>
            <a:ext cx="3383280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Piloto FUUT — Primeira Evidência Empírica</a:t>
            </a:r>
            <a:endParaRPr lang="en-US" sz="22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Antes: só arquitetura, nunca testado. Agora: primeiro piloto real (N=3).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tb1 navega como MUUT; tb2 fica parado como FUUT, observando via LiDAR.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DB1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3/3 réplicas, correspondência forte (confiança 0,86–0,96), discrepância 3–6 cm.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caminho: achado e correção ao vivo de um offset de ~90° na montagem do LiDAR (discrepância caiu de 2,8 m para poucos cm).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Preliminar — N pequeno, 1 rota, calibração ainda não confirmada contra o URDF.</a:t>
            </a:r>
            <a:endParaRPr lang="en-US" sz="1200" dirty="0"/>
          </a:p>
        </p:txBody>
      </p:sp>
      <p:sp>
        <p:nvSpPr>
          <p:cNvPr id="6" name="Shape 2"/>
          <p:cNvSpPr/>
          <p:nvPr/>
        </p:nvSpPr>
        <p:spPr>
          <a:xfrm>
            <a:off x="7223760" y="676656"/>
            <a:ext cx="1600200" cy="329184"/>
          </a:xfrm>
          <a:prstGeom prst="roundRect">
            <a:avLst>
              <a:gd name="adj" fmla="val 22222"/>
            </a:avLst>
          </a:prstGeom>
          <a:solidFill>
            <a:srgbClr val="DB1E2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7223760" y="676656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ACHADO NOVO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Desafios Técnicos Superados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TF namespaceado: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buffer TF dedicado por robô (lookup falhava silenciosamente).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cmd_vel por robô: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SDF gerado em runtime com tópico prefixado.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Timing SLAM/scan: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bridge do scan atrasado 2s depois do SLAM.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 de argparse: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 negativo exigia sintaxe --points=VALOR.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Desafios Recentes: Multi-Robô, CI e Confiabilidade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Xacro multi-robô: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fork prefixando tópicos gz-transport por robot_id.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 não testava ROS de verdade: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novo falha se qualquer teste for pulado.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Repetibilidade mal-medida: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prioridade de detecção corrigida (amcl_pose → pose SLAM → odom).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Processos órfãos: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os.setsid + os.killpg no painel de simulação.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Nav2 Simultâneo — Achado Cyclone DDS</a:t>
            </a:r>
            <a:endParaRPr lang="en-US" sz="22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Pergunta: dá pra ligar os 2 robôs ao mesmo tempo de verdade, não só contornar com ativação sequencial?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 DDS (padrão): 20%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sucesso (1 de 5) — pior que a ativação sequencial.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DB1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Cyclone DDS: 100%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sucesso (10 de 10, 2 baterias) — 1 variável de ambiente, zero mudança de código.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Causa raiz confirmada no código-fonte do tf2: limiar de 1s fixo, não configurável — só a troca de middleware resolve.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Corroborado por um projeto real no GitHub com a mesma pilha. Candidato validado, ainda não adotado como padrão.</a:t>
            </a:r>
            <a:endParaRPr lang="en-US" sz="1200" dirty="0"/>
          </a:p>
        </p:txBody>
      </p:sp>
      <p:sp>
        <p:nvSpPr>
          <p:cNvPr id="6" name="Shape 2"/>
          <p:cNvSpPr/>
          <p:nvPr/>
        </p:nvSpPr>
        <p:spPr>
          <a:xfrm>
            <a:off x="7223760" y="676656"/>
            <a:ext cx="1600200" cy="329184"/>
          </a:xfrm>
          <a:prstGeom prst="roundRect">
            <a:avLst>
              <a:gd name="adj" fmla="val 22222"/>
            </a:avLst>
          </a:prstGeom>
          <a:solidFill>
            <a:srgbClr val="DB1E2F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7223760" y="676656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ACHADO NOVO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Trabalho Futuro e Conclusão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8138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Framework funcional em simulação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RMSE médio 3,35 cm (máx 4,76 cm) entre réplicas.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Multi-robô: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ativação sequencial (70%) + achado Cyclone DDS simultâneo (100%, 10/10).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Piloto FUUT: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1ª evidência empírica (N=3, correspondência forte).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Alocação de missão: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interpreta 100% das missões; sem as distâncias reais fica até 54% acima do ótimo — arquitetura híbrida.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b="1" dirty="0">
                <a:solidFill>
                  <a:srgbClr val="DB1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Próximo: </a:t>
            </a:r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adotar Cyclone DDS como padrão + campanha RMSE sob ativação simultânea; ampliar piloto FUUT; executar as missões no Gazebo com alocação híbrida.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Também: baseline via play_route, backend ROS 2 nativo, validação em hardware real.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B1E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8288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Obrigado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28346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Questões?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bsoft_build/assets/logo_cin_uf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3152"/>
            <a:ext cx="1828800" cy="539496"/>
          </a:xfrm>
          <a:prstGeom prst="rect">
            <a:avLst/>
          </a:prstGeom>
        </p:spPr>
      </p:pic>
      <p:pic>
        <p:nvPicPr>
          <p:cNvPr id="3" name="Image 1" descr="/tmp/cbsoft_build/assets/logo_cinufpeb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1232" y="4759452"/>
            <a:ext cx="1481328" cy="310896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20040" y="38404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Piloto de Missão — LLM vs. Ótimo</a:t>
            </a:r>
            <a:endParaRPr lang="en-US" sz="2600" dirty="0"/>
          </a:p>
        </p:txBody>
      </p:sp>
      <p:sp>
        <p:nvSpPr>
          <p:cNvPr id="5" name="Text 1"/>
          <p:cNvSpPr txBox="1"/>
          <p:nvPr/>
        </p:nvSpPr>
        <p:spPr>
          <a:xfrm>
            <a:off x="320040" y="114300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missão em português → qual robô faz cada zona? A decisão é boa e repetível?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Comparação: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despacho fixo (painel atual), regra gulosa, ótimo exato e Claude — 15 missões, 200 decisões, só a decisão (sem Gazebo).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obstáculos: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no ótimo em 50/50, sempre com a mesma resposta.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DB1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estantes e paredes: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só com o mapa — 35/50 no ótimo, pior caso +54%, mesma resposta em 5/10 missões. Com as distâncias reais — 50/50.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Interpretação: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certa — negação, robô que falhou no meio, nunca moveu o FUUT.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Leitura: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LLM interpreta a missão; o cálculo de caminho otimiza.</a:t>
            </a:r>
            <a:endParaRPr lang="en-US" sz="1300" dirty="0"/>
          </a:p>
        </p:txBody>
      </p:sp>
      <p:pic>
        <p:nvPicPr>
          <p:cNvPr id="6" name="Image 2" descr="/tmp/cbsoft_build/assets/fonte_trajetoria_rms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394960" y="1371600"/>
            <a:ext cx="3383280" cy="246888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223760" y="676656"/>
            <a:ext cx="1600200" cy="329184"/>
          </a:xfrm>
          <a:prstGeom prst="roundRect">
            <a:avLst>
              <a:gd name="adj" fmla="val 22222"/>
            </a:avLst>
          </a:prstGeom>
          <a:solidFill>
            <a:srgbClr val="DB1E2F"/>
          </a:solidFill>
          <a:ln/>
        </p:spPr>
      </p:sp>
      <p:sp>
        <p:nvSpPr>
          <p:cNvPr id="8" name="Text 3"/>
          <p:cNvSpPr txBox="1"/>
          <p:nvPr/>
        </p:nvSpPr>
        <p:spPr>
          <a:xfrm>
            <a:off x="7223760" y="676656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ACHADO NOVO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Centro de Informatica - UFPE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Eduardo Wanderley</dc:creator>
  <cp:lastModifiedBy>Eduardo Wanderley</cp:lastModifiedBy>
  <cp:revision>1</cp:revision>
  <dcterms:created xsi:type="dcterms:W3CDTF">2026-10-12T19:35:32Z</dcterms:created>
  <dcterms:modified xsi:type="dcterms:W3CDTF">2026-10-12T19:35:32Z</dcterms:modified>
</cp:coreProperties>
</file>
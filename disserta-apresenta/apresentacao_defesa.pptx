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70" r:id="rId20"/>
    <p:sldId id="263" r:id="rId10"/>
    <p:sldId id="264" r:id="rId11"/>
    <p:sldId id="269" r:id="rId19"/>
    <p:sldId id="271" r:id="rId21"/>
    <p:sldId id="273" r:id="rId23"/>
    <p:sldId id="265" r:id="rId12"/>
    <p:sldId id="268" r:id="rId13"/>
    <p:sldId id="272" r:id="rId22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19" Type="http://schemas.openxmlformats.org/officeDocument/2006/relationships/slide" Target="slides/slide14.xml"/>
  <Relationship Id="rId20" Type="http://schemas.openxmlformats.org/officeDocument/2006/relationships/slide" Target="slides/slide15.xml"/>
  <Relationship Id="rId21" Type="http://schemas.openxmlformats.org/officeDocument/2006/relationships/slide" Target="slides/slide16.xml"/>
  <Relationship Id="rId22" Type="http://schemas.openxmlformats.org/officeDocument/2006/relationships/slide" Target="slides/slide17.xml"/>
  <Relationship Id="rId23" Type="http://schemas.openxmlformats.org/officeDocument/2006/relationships/slide" Target="slides/slide18.xml"/>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111827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4023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EE7B7"/>
                </a:solidFill>
                <a:latin typeface="Calibri"/>
              </a:rPr>
              <a:t>Fleet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033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FDBFF"/>
                </a:solidFill>
                <a:latin typeface="Calibri"/>
              </a:rPr>
              <a:t>Defesa de Dissertação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Framework para Experimentos de
Repetibilidade em Robótica Móvel
com ROS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Eduardo Wanderley
Mestrado em Robótica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01.  Motivação e contexto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02.  Objetivos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03.  Arquitetura do sistema + Agentes de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04.  Papéis experimentais (MUUT / FUUT / SU)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05.  Metodologia — record / replay / análise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48640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06.  Resultados, hipóteses e pilotos (FUUT e missão)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0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07.  Desafios técnicos + achado Cyclone DDS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07492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08.  Trabalho futuro 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Por que este trabalho é relevante?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115568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Reprodutibilidade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é um pilar da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ciência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experimental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em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robótica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Resultados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devem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ser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replicáveis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para ter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validade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científica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Sistemas multi-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robô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adicionam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sincronização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sensores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heterogéneos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Lacuna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identificada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Ausência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frameworks open-source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integrem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controlo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frota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coleta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síncrona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análise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Interfaces ROS 2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complexas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dificultam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configuração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por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investigadores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059669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059669"/>
                </a:solidFill>
                <a:latin typeface="Calibri"/>
              </a:rPr>
              <a:t>Proposta</a:t>
            </a:r>
            <a:endParaRPr sz="1800" b="1" dirty="0">
              <a:solidFill>
                <a:srgbClr val="059669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Framework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orquestração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→ coleta →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análise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repetibilidade</a:t>
            </a:r>
            <a:endParaRPr sz="1600" b="0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Interface web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abstrai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do ROS 2</a:t>
            </a: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Arquitetura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papéis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para testbeds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distribuídos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(MUUT / FUUT / SU)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Geral: Desenvolver e validar um framework de orquestração multi-robô orientado a experimentos reprodutíveis de navegação autónoma com ROS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457200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Orquestrador ROS 2 com serviços record / replay / go_to_point e controlo de papéis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015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Coleta síncrona de dados sensoriais em MCAP (scan, odom, imu, pose)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78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Pipeline de análise: RMSE pairwise, comprimento de percurso, overlay visual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4572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56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Interface web para controlo de experimentos sem exposição ao ROS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23560"/>
            <a:ext cx="457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332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Validação em simulação Gazebo + preparação para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Camadas do framework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57432" cy="804672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472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Interface Web (Fleet 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37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React + Vite  ·  FastAPI  ·  Editor JSON  ·  Missão Coordenada  ·  Painel de Agentes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5743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432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Orquestrador  (fleet_orchestrator)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7 serviços ROS 2  ·  Record / Replay  ·  Nav2 Actions  ·  Multi-robô via ativação sequencial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57432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Coleta de Dados  (fleet_data_collector)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5818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Bags MCAP por robô  ·  QoS adaptado  ·  scan / odom / imu / 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Navegação  (Nav2 + SLAM Toolbox)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NavigateToPose / FollowWaypoints  ·  SLAM async  ·  TF namespaceado por robô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57432" cy="8046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3126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Simulação  (Gazebo Harmonic)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784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TurtleBot4 (até 3 robôs)  ·  Xacro namespaceado  ·  gz-transport prefixado por robô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Camada de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Planejamento, execução e análise via linguagem natural (API Claude/Anthropic)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Decide os passos do experimento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Interpreta o pedido em português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Decide quais ferramentas chamar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Escopado a 1 robô por 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Roda sobre a API da Anthropic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Executor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Fala com o Fleet UI de verdade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Chama os endpoints REST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record / replay / go_to_point / campanha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Sem acesso direto ao ROS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Mesma API que a interface web usa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Interpreta resultados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Lê summary.json (RMSE, duração)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Aponta execuções fora do esperado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Sugere causa provável do desvio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Só leitura — nunca executa 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Cada agente só atua no seu próprio robô — um agente nunca move o robô de outro.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Papéis Experimentais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Arquitetura de responsabilidades por unidade robótica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MUUT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Mobile Unit Under Test/Tasking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Navega autonomamente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Grava e reproduz rotas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dados sensoriais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Fonte de trajetória repetível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Fixed Unit Under Test/Tasking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Posição fixa no ambiente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sensores (scan, imu…)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navega nem grava rotas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ambiental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Support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Infraestrutura de rede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Relay / gateway ROS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participa da navegação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do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Pedidos de navegação de FUUT e SU são bloqueados ao nível do orquestrador.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Protocolo record → replay → análise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2743200" cy="1783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Record
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Waypoints → Nav2
TF → YAML + bag MCAP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463040"/>
            <a:ext cx="822960" cy="8229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5196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377440"/>
            <a:ext cx="2743200" cy="178308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Replay ×N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2900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FollowWaypoints N vezes
1 bag MCAP por repetição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377440"/>
            <a:ext cx="2743200" cy="1783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Análise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odom dos bags → RMSE
pairwise + overlay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463040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377440"/>
            <a:ext cx="2743200" cy="1783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8116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summary.json: RMSE
duração, erro endpoint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40680"/>
            <a:ext cx="11457432" cy="59436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5532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350F"/>
                </a:solidFill>
                <a:latin typeface="Calibri"/>
              </a:rPr>
              <a:t>⚠  Entre repetições: go_to_point(0,0,0) para retornar ao ponto de partida — condição necessária para a comparação de trajetórias.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Resultados — Validação em Simulação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final: 10 réplicas de 1 rota  ·  TurtleBot4  ·  Gazebo Harmonic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Campanha final — dissertation_clean01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Percurso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0.826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comprimento médio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RMSE 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3.35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execução de referência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Erro final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1.64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replay_01 (máx 3.26 cm)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 média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17.51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desvio 0.36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Validação do mecanismo — dissertacao_teste1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Réplicas entre 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2.00 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mesmo mecanismo (play_route)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Baseline vs réplicas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13.90 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mecanismos diferentes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Razão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~7x maior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quando muda o mecanismo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11.7s vs 29.5s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vs play_route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Repetibilidade entre execuções: RMSE médio 3,35 cm (máx 4,76 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Bem abaixo da tolerância de 25 cm do Nav2 — a métrica correta compara execuções com o mesmo mecanismo de navegação.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Distribuição do RMSE — 10 Réplicas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dissertation_clean01 — RMSE de cada réplica contra a referência (replay_01)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RMSE por réplica, vs. replay_01 (cm)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Estatística da campanha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127455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B2A4A"/>
                </a:solidFill>
                <a:latin typeface="Calibri"/>
              </a:rPr>
              <a:t>Réplica 02: 2,57 · 03: 2,01 · 04: 2,58 · 05: 3,77 · 06: 4,58 · 07: 4,19 · 08: 4,76 · 09: 1,65 · 10: 4,08 cm  —  média 3,35 cm, desvio 1,10 cm, todos abaixo da tolerância de 25 cm do Nav2. Overlay completo em fleet_ws/runs/dissertation_clean01_final_manual/.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Técnicos Superados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TF namespaceado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SLAM publica /tb1/tf — buffer global subscrevia /tf → lookup falha silenciosamente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Buffer TF dedicado por robô subscrito a /{rid}/tf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cmd_vel por robô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SDF DiffDrive com /cmd_vel global → ambos respondem ao mesmo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SDF gerado em runtime com /{rid}/cmd_vel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Timing SLAM /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scan chegava antes do TF estar populado → 'queue is full' infinito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scan_bridge inicia 2 s depois do SLAM (9 s vs 7 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Argparse negativo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--points -1.0,0,0 interpretado como flag → crash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--points=VALUE evita ambiguidade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Recentes — Multi-Robô, CI e Confiabilidade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Xacro multi-robô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DiffDrive do TurtleBot4 publicava /cmd_vel global — 1 comando movia todos os robôs ao mesmo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Xacro forkado: todo tópico gz-transport prefixado por /{robot_id}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CI não testava a parte 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Testes que dependiam de ROS eram pulados (skip) em silêncio no CI — badge verde não provava 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Novo job de CI com ROS 2 real — falha se qualquer teste ROS for pulado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Repetibilidade mal-medida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Análise usava odometria bruta em vez da pose do SLAM — inflava o RMSE por deriva, não por repetibilidade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Corrigido: detecção automática prioriza amcl_pose &gt; pose SLAM &gt; odom; MPPI documentado como variância conhecida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Processos órfãos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Simulação antiga ficava rodando junto com a nova — falhas imprevisíveis (UNKNOWN_ROBOT)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os.setsid + os.killpg no painel de simulação — mata a árvore inteira, sem processo órfão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Trabalho Futuro e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Próximas etapas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Definir metodologia: baseline via play_route, não só go_to_point sequencial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96312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Backend nativo ROS 2 — substituir subprocess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55263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Campanha de RMSE sob ativação simultânea (Cyclone DDS) — candidato já validado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14215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0690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Ampliar piloto FUUT (N maior, mais geometrias) — N=3 já corroborou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Conexão SSH real para robôs na rede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19"/>
            <a:ext cx="73152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869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Análise estatística multi-sessão (variabilidade inter-dia)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34440"/>
            <a:ext cx="5303520" cy="4983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084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87451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✓  Framework funcional em simulação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532887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RMSE médio 3,35 cm (máx 4,76 cm) entre réplicas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191256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Multi-robô: sequencial (70%) + achado Cyclone DDS simultâneo (100%, 10/10)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849624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Piloto FUUT: 1ª evidência empírica (N=3, correspondência forte, 3–6cm)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50799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Missão: LLM interpreta 100%; sem distâncias reais, 35/50 ótimo (pior +54%)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16635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BBF24"/>
                </a:solidFill>
                <a:latin typeface="Calibri"/>
              </a:rPr>
              <a:t>→  Próximo: adotar Cyclone DDS como padrão + campanha RMSE sob ativação simultânea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989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FDBFF"/>
                </a:solidFill>
                <a:latin typeface="Calibri"/>
              </a:rPr>
              <a:t>Obrigado — Questões?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Fonte de Trajetória: Odometria, SLAM e Ground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odom vs. pose (SLAM) vs. ground truth nativo do Gazebo  ·  3 rotas, 10 réplicas 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RMSE vs. Ground Truth, por rota (N=10)</a:t>
            </a:r>
          </a:p>
        </p:txBody>
      </p:sp>
      <p:pic>
        <p:nvPicPr>
          <p:cNvPr id="60" name="Picture 60" descr="RMSE medio vs ground truth, por rota e fonte de trajetori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00000" cy="3214286"/>
          </a:xfrm>
          <a:prstGeom prst="rect">
            <a:avLst/>
          </a:prstGeom>
        </p:spPr>
      </p:pic>
      <p:sp>
        <p:nvSpPr>
          <p:cNvPr id="61" name="Rectangle 61"/>
          <p:cNvSpPr/>
          <p:nvPr/>
        </p:nvSpPr>
        <p:spPr>
          <a:xfrm>
            <a:off x="5757200" y="17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2"/>
          <p:cNvSpPr/>
          <p:nvPr/>
        </p:nvSpPr>
        <p:spPr>
          <a:xfrm>
            <a:off x="5757200" y="17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3"/>
          <p:cNvSpPr txBox="1"/>
          <p:nvPr/>
        </p:nvSpPr>
        <p:spPr>
          <a:xfrm>
            <a:off x="5894360" y="18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Maior diferença — Rota Loop (~11,3 m, 4 curvas)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894360" y="21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~12 cm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894360" y="27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14,27 cm  vs.  pose 2,45 cm</a:t>
            </a:r>
          </a:p>
        </p:txBody>
      </p:sp>
      <p:sp>
        <p:nvSpPr>
          <p:cNvPr id="66" name="Rectangle 66"/>
          <p:cNvSpPr/>
          <p:nvPr/>
        </p:nvSpPr>
        <p:spPr>
          <a:xfrm>
            <a:off x="5757200" y="33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7"/>
          <p:cNvSpPr/>
          <p:nvPr/>
        </p:nvSpPr>
        <p:spPr>
          <a:xfrm>
            <a:off x="5757200" y="33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8"/>
          <p:cNvSpPr txBox="1"/>
          <p:nvPr/>
        </p:nvSpPr>
        <p:spPr>
          <a:xfrm>
            <a:off x="5894360" y="34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Rota Curta (~0,9 m) — mesma da campanha principal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894360" y="37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&lt; 4 cm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894360" y="43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0,01 cm  vs.  pose 3,28 cm — diferença desprezível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100000"/>
            <a:ext cx="11274552" cy="9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5100000"/>
            <a:ext cx="91440" cy="95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51731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Rota curta: diferença desprezível (&lt; 4 cm) — valida a escolha metodológica da campanha principal.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540624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Em rotas mais longas, a diferença chega a ~12 cm — a fonte de trajetória passa a importar para a conclusão sobre repetibilidade.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Perguntas de Pesquisa e Hipóteses — Retomada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4 perguntas (PP1–PP4), cada uma associada a uma hipótese (H1–H4)  ·  Capítulo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Status — Perguntas de Pesquisa (PP)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PP1 — Automação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Corroborada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7 serviços ROS2 + orquestrador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PP2 — Repetibilidade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Corroborada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RMSE 3,35cm &lt; 25cm (N=10)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PP3 — Fora do protocolo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Exploratória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causalidade não estabelecida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PP4 — Custo de engenharia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Funcional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esforço percebido não medido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O que cada hipótese (H) confirma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H1 confirma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record–replay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+ play_route testados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H2 confirma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máx. 4,76cm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erro final médio 1,64cm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H3 observa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Aumentam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fora do protocolo controlado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H4 observa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Sem CLI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não usada p/ gerar os números reportados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4 de 4 perguntas endereçadas — 2 corroboradas, 2 com evidência parcial/exploratória, nenhuma refutada.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Tabela completa de correspondência PP ↔ H ↔ QA ↔ Resultado no Capítulo 9 da dissertação.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Piloto FUUT — Primeira Evidência Empírica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ACHADO NOVO · N=3 réplicas · rodado ao vivo esta semana · tb1 (MUUT) + tb2 (FUUT)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Resultado — 3 réplicas, correspondência forte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Forte (0,86)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discrepância 3,06 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Forte (0,95)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discrepância 5,88 cm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Forte (0,96)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discrepância 4,76 cm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Discrepância temporal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0,00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nas 3 réplicas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Como funciona — achado e correção ao vivo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Antes da correção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~2,8 m de erro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só na direção (bearing)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Causa encontrada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offset ~90°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montagem do LiDAR do FUUT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Correção aplicada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+90° empírico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não confirmado contra o URDF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Depois da correção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3–6 cm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dentro do ruído de sensor esperado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Fecha a lacuna “papel FUUT nunca exercitado” citada como limitação no Capítulo 9.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Piloto preliminar (N=3) — não substitui campanha quantitativa formal; limitações específicas no texto.</a:t>
            </a:r>
          </a:p>
        </p:txBody>
      </p:sp>
      <p:sp>
        <p:nvSpPr>
          <p:cNvPr id="100" name="Badge Achado Novo"/>
          <p:cNvSpPr/>
          <p:nvPr/>
        </p:nvSpPr>
        <p:spPr>
          <a:xfrm>
            <a:off x="1005000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● ACHADO NOVO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Nav2 Simultâneo — Achado Cyclone 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ACHADO NOVO · testado ao vivo contra o Gazebo real · aprofundamento do bug já documentado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Taxa de sucesso — ativação SIMULTÂNEA (2 robôs)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Fast DDS (padrão)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1 de 5 tentativas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Cyclone 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10 de 10 (2 baterias)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Mudança necessária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 variável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RMW_IMPLEMENTATION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Jumps observados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sob Cyclone DDS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Por que funciona — causa raiz confirmada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Limiar do bug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 segundo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fixo no tf2_ros, não configurável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Navegação concorrente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25s testados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sem sintoma reaparecer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Corroboração externa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projeto real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arshadlab/turtlebot3_multi_robot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Status atual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Validado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ainda não adotado como padrão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Resolve o sintoma que motivou a ativação sequencial documentada como limitação no Capítulo 9.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Trabalho futuro prioritário — requer nova campanha de RMSE sob esta configuração antes de virar arquitetura padrão.</a:t>
            </a:r>
          </a:p>
        </p:txBody>
      </p:sp>
      <p:sp>
        <p:nvSpPr>
          <p:cNvPr id="100" name="Badge Achado Novo"/>
          <p:cNvSpPr/>
          <p:nvPr/>
        </p:nvSpPr>
        <p:spPr>
          <a:xfrm>
            <a:off x="1005000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● ACHADO NOVO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Piloto — Alocação de Missão: LLM vs. Ótimo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ACHADO NOVO · 15 missões em linguagem natural · 200 decisões do Claude · sem execução no Gazebo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Cenário simples — 5 missões, distância em linha reta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Painel atual (fixo)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até +42%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acima do ótimo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Regra gulosa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até +29%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acima do ótimo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LLM (Claude)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50/50 ótimo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mesma resposta nas 10 vezes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Latência do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7 → 26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solver exato: milissegundos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Com obstáculos — 10 missões, caminho real no mapa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Painel atual (fixo)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até +106%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acima do ótimo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LLM só com o mapa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35/50 ótimo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pior caso +54% (armadilhas)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Repetibilidade do LLM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5/10 missões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 a mesma resposta sempre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LLM + distâncias reais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50/50 ótimo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 repetível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O LLM interpreta a missão (negação, falha, papéis: 100%); o cálculo de caminho otimiza.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Piloto: só a decisão, sem execução no Gazebo · 1 ambiente · 5–10 repetições por missão</a:t>
            </a:r>
          </a:p>
        </p:txBody>
      </p:sp>
      <p:sp>
        <p:nvSpPr>
          <p:cNvPr id="100" name="Badge Achado Novo"/>
          <p:cNvSpPr/>
          <p:nvPr/>
        </p:nvSpPr>
        <p:spPr>
          <a:xfrm>
            <a:off x="1005000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● ACHADO NOVO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1477</Words>
  <Application>Microsoft Office PowerPoint</Application>
  <PresentationFormat>Personalizar</PresentationFormat>
  <Paragraphs>212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Eduardo Wanderley</cp:lastModifiedBy>
  <cp:revision>2</cp:revision>
  <dcterms:created xsi:type="dcterms:W3CDTF">2013-01-27T09:14:16Z</dcterms:created>
  <dcterms:modified xsi:type="dcterms:W3CDTF">2026-09-25T17:22:03Z</dcterms:modified>
  <cp:category/>
</cp:coreProperties>
</file>
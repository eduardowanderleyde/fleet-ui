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9" r:id="rId19"/>
    <p:sldId id="265" r:id="rId12"/>
    <p:sldId id="268" r:id="rId13"/>
    <p:sldId id="266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19" Type="http://schemas.openxmlformats.org/officeDocument/2006/relationships/slide" Target="slides/slide14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54864" cy="685800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111827"/>
                </a:solidFill>
                <a:latin typeface="Calibri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10896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EE7B7"/>
                </a:solidFill>
                <a:latin typeface="Calibri"/>
              </a:rPr>
              <a:t>Fleet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0332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FDBFF"/>
                </a:solidFill>
                <a:latin typeface="Calibri"/>
              </a:rPr>
              <a:t>Seminário de Andamento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64592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Framework para Experimentos de
Repetibilidade em Robótica Móvel
com ROS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356616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Eduardo Wanderley
Mestrado em Robótica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Seminário de Andamento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864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01.  Motivação e contexto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4864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02.  Objetivos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5486400" cy="100584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03.  Arquitetura do sistema + Agentes de 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606040"/>
            <a:ext cx="5486400" cy="100584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880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04.  Papéis experimentais (MUUT / FUUT / SU)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5486400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05.  Metodologia — record / replay / análise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5486400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06.  Resultados de repetibilidade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74920"/>
            <a:ext cx="5486400" cy="10058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349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07.  Desafios técnicos e de confiabilidade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5074920"/>
            <a:ext cx="5486400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53492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08.  Trabalho futuro e conclusão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Motivação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Por que este trabalho é relevante?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Seminário de Andamento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115568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B2A4A"/>
                </a:solidFill>
                <a:latin typeface="Calibri"/>
              </a:rPr>
              <a:t>• </a:t>
            </a:r>
            <a:r>
              <a:rPr sz="1800" b="1" dirty="0" err="1">
                <a:solidFill>
                  <a:srgbClr val="1B2A4A"/>
                </a:solidFill>
                <a:latin typeface="Calibri"/>
              </a:rPr>
              <a:t>Reprodutibilidade</a:t>
            </a:r>
            <a:r>
              <a:rPr sz="1800" b="1" dirty="0">
                <a:solidFill>
                  <a:srgbClr val="1B2A4A"/>
                </a:solidFill>
                <a:latin typeface="Calibri"/>
              </a:rPr>
              <a:t> é um pilar da </a:t>
            </a:r>
            <a:r>
              <a:rPr sz="1800" b="1" dirty="0" err="1">
                <a:solidFill>
                  <a:srgbClr val="1B2A4A"/>
                </a:solidFill>
                <a:latin typeface="Calibri"/>
              </a:rPr>
              <a:t>ciência</a:t>
            </a:r>
            <a:r>
              <a:rPr sz="1800" b="1" dirty="0">
                <a:solidFill>
                  <a:srgbClr val="1B2A4A"/>
                </a:solidFill>
                <a:latin typeface="Calibri"/>
              </a:rPr>
              <a:t> experimental </a:t>
            </a:r>
            <a:r>
              <a:rPr sz="1800" b="1" dirty="0" err="1">
                <a:solidFill>
                  <a:srgbClr val="1B2A4A"/>
                </a:solidFill>
                <a:latin typeface="Calibri"/>
              </a:rPr>
              <a:t>em</a:t>
            </a:r>
            <a:r>
              <a:rPr sz="18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B2A4A"/>
                </a:solidFill>
                <a:latin typeface="Calibri"/>
              </a:rPr>
              <a:t>robótica</a:t>
            </a:r>
            <a:endParaRPr sz="1800" b="1" dirty="0">
              <a:solidFill>
                <a:srgbClr val="1B2A4A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6B7280"/>
                </a:solidFill>
                <a:latin typeface="Calibri"/>
              </a:rPr>
              <a:t>    •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Resultados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devem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ser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replicáveis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para ter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validade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científica</a:t>
            </a:r>
            <a:endParaRPr sz="1600" b="0" dirty="0">
              <a:solidFill>
                <a:srgbClr val="6B7280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6B7280"/>
                </a:solidFill>
                <a:latin typeface="Calibri"/>
              </a:rPr>
              <a:t>    • Sistemas multi-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robô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adicionam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complexidade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sincronização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sensores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heterogéneos</a:t>
            </a:r>
            <a:endParaRPr sz="1600" b="0" dirty="0">
              <a:solidFill>
                <a:srgbClr val="6B7280"/>
              </a:solidFill>
              <a:latin typeface="Calibri"/>
            </a:endParaRPr>
          </a:p>
          <a:p>
            <a:pPr algn="l"/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</a:p>
          <a:p>
            <a:pPr algn="l"/>
            <a:r>
              <a:rPr sz="1800" b="1" dirty="0">
                <a:solidFill>
                  <a:srgbClr val="1B2A4A"/>
                </a:solidFill>
                <a:latin typeface="Calibri"/>
              </a:rPr>
              <a:t>• Lacuna </a:t>
            </a:r>
            <a:r>
              <a:rPr sz="1800" b="1" dirty="0" err="1">
                <a:solidFill>
                  <a:srgbClr val="1B2A4A"/>
                </a:solidFill>
                <a:latin typeface="Calibri"/>
              </a:rPr>
              <a:t>identificada</a:t>
            </a:r>
            <a:endParaRPr sz="1800" b="1" dirty="0">
              <a:solidFill>
                <a:srgbClr val="1B2A4A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6B7280"/>
                </a:solidFill>
                <a:latin typeface="Calibri"/>
              </a:rPr>
              <a:t>    •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Ausência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de frameworks open-source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integrem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controlo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frota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+ coleta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síncrona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+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análise</a:t>
            </a:r>
            <a:endParaRPr sz="1600" b="0" dirty="0">
              <a:solidFill>
                <a:srgbClr val="6B7280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6B7280"/>
                </a:solidFill>
                <a:latin typeface="Calibri"/>
              </a:rPr>
              <a:t>    • Interfaces ROS 2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complexas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dificultam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a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configuração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investigadores</a:t>
            </a:r>
            <a:endParaRPr sz="1600" b="0" dirty="0">
              <a:solidFill>
                <a:srgbClr val="6B7280"/>
              </a:solidFill>
              <a:latin typeface="Calibri"/>
            </a:endParaRPr>
          </a:p>
          <a:p>
            <a:pPr algn="l"/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</a:p>
          <a:p>
            <a:pPr algn="l"/>
            <a:r>
              <a:rPr sz="1800" b="1" dirty="0">
                <a:solidFill>
                  <a:srgbClr val="059669"/>
                </a:solidFill>
                <a:latin typeface="Calibri"/>
              </a:rPr>
              <a:t>• </a:t>
            </a:r>
            <a:r>
              <a:rPr sz="1800" b="1" dirty="0" err="1">
                <a:solidFill>
                  <a:srgbClr val="059669"/>
                </a:solidFill>
                <a:latin typeface="Calibri"/>
              </a:rPr>
              <a:t>Proposta</a:t>
            </a:r>
            <a:endParaRPr sz="1800" b="1" dirty="0">
              <a:solidFill>
                <a:srgbClr val="059669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1B2A4A"/>
                </a:solidFill>
                <a:latin typeface="Calibri"/>
              </a:rPr>
              <a:t>    • Framework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completo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orquestração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→ coleta →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análise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repetibilidade</a:t>
            </a:r>
            <a:endParaRPr sz="1600" b="0" dirty="0">
              <a:solidFill>
                <a:srgbClr val="1B2A4A"/>
              </a:solidFill>
              <a:latin typeface="Calibri"/>
            </a:endParaRPr>
          </a:p>
          <a:p>
            <a:pPr algn="l"/>
            <a:r>
              <a:rPr sz="1600" b="0" dirty="0">
                <a:solidFill>
                  <a:srgbClr val="1B2A4A"/>
                </a:solidFill>
                <a:latin typeface="Calibri"/>
              </a:rPr>
              <a:t>    • Interface web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abstrai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a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complexidade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do ROS 2</a:t>
            </a:r>
          </a:p>
          <a:p>
            <a:pPr algn="l"/>
            <a:r>
              <a:rPr sz="1600" b="0" dirty="0">
                <a:solidFill>
                  <a:srgbClr val="1B2A4A"/>
                </a:solidFill>
                <a:latin typeface="Calibri"/>
              </a:rPr>
              <a:t>    •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Arquitetura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papéis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para testbeds </a:t>
            </a:r>
            <a:r>
              <a:rPr sz="1600" b="0" dirty="0" err="1">
                <a:solidFill>
                  <a:srgbClr val="1B2A4A"/>
                </a:solidFill>
                <a:latin typeface="Calibri"/>
              </a:rPr>
              <a:t>distribuídos</a:t>
            </a:r>
            <a:r>
              <a:rPr sz="1600" b="0" dirty="0">
                <a:solidFill>
                  <a:srgbClr val="1B2A4A"/>
                </a:solidFill>
                <a:latin typeface="Calibri"/>
              </a:rPr>
              <a:t> (MUUT / FUUT / SU)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Seminário de Andamento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745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Geral: Desenvolver e validar um framework de orquestração multi-robô orientado a experimentos reprodutíveis de navegação autónoma com ROS 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45720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2432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Orquestrador ROS 2 com serviços record / replay / go_to_point e controlo de papéis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457200" cy="59436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015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Coleta síncrona de dados sensoriais em MCAP (scan, odom, imu, pose)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69080"/>
            <a:ext cx="457200" cy="59436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78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Pipeline de análise: RMSE pairwise, comprimento de percurso, overlay visual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457200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956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Interface web para controlo de experimentos sem exposição ao ROS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23560"/>
            <a:ext cx="457200" cy="594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715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73328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Validação em simulação Gazebo + preparação para hardware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Arquitetura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Camadas do framework fleet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Seminário de Andamento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11457432" cy="804672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4721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Interface Web (Fleet UI)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37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FE8FF"/>
                </a:solidFill>
                <a:latin typeface="Calibri"/>
              </a:rPr>
              <a:t>React + Vite  ·  FastAPI  ·  Editor JSON  ·  Missão Coordenada  ·  Painel de Agentes de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11457432" cy="8046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4323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Orquestrador  (fleet_orchestrator)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7980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FE8FF"/>
                </a:solidFill>
                <a:latin typeface="Calibri"/>
              </a:rPr>
              <a:t>7 serviços ROS 2  ·  Record / Replay  ·  Nav2 Actions  ·  Multi-robô via ativação sequencial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11457432" cy="8046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3924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Coleta de Dados  (fleet_data_collector)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581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FE8FF"/>
                </a:solidFill>
                <a:latin typeface="Calibri"/>
              </a:rPr>
              <a:t>Bags MCAP por robô  ·  QoS adaptado  ·  scan / odom / imu / pose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97680"/>
            <a:ext cx="11457432" cy="8046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3525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Navegação  (Nav2 + SLAM Toolbox)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71830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FE8FF"/>
                </a:solidFill>
                <a:latin typeface="Calibri"/>
              </a:rPr>
              <a:t>NavigateToPose / FollowWaypoints  ·  SLAM async  ·  TF namespaceado por robô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57800"/>
            <a:ext cx="11457432" cy="80467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3126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Simulação  (Gazebo Harmonic)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784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TurtleBot4 (até 3 robôs)  ·  Xacro namespaceado  ·  gz-transport prefixado por robô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Camada de Agentes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Planejamento, execução e análise via linguagem natural (API Claude/Anthropic)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Seminário de Andamento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3657600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93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FE8FF"/>
                </a:solidFill>
                <a:latin typeface="Calibri"/>
              </a:rPr>
              <a:t>Decide os passos do experimento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50592"/>
            <a:ext cx="3657600" cy="3383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06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Interpreta o pedido em português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Decide quais ferramentas chamar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60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Escopado a 1 robô por vez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377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Roda sobre a API da Anthropic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417320"/>
            <a:ext cx="3657600" cy="9601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Executor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993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FE8FF"/>
                </a:solidFill>
                <a:latin typeface="Calibri"/>
              </a:rPr>
              <a:t>Fala com o Fleet UI de verdade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450592"/>
            <a:ext cx="3657600" cy="3383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2606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Chama os endpoints REST do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832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record / replay / go_to_point / campanha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160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Sem acesso direto ao ROS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9377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Mesma API que a interface web usa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1417320"/>
            <a:ext cx="3657600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19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Analyst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1993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FE8FF"/>
                </a:solidFill>
                <a:latin typeface="Calibri"/>
              </a:rPr>
              <a:t>Interpreta resultados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2450592"/>
            <a:ext cx="3657600" cy="3383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199" y="2606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Lê summary.json (RMSE, duração)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9" y="33832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Aponta execuções fora do esperado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9" y="4160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Sugere causa provável do desvio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9" y="49377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Só leitura — nunca executa nada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98932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Cada agente só atua no seu próprio robô — um agente nunca move o robô de outro.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Papéis Experimentais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Arquitetura de responsabilidades por unidade robótica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Seminário de Andamento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3657600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MUUT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93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FE8FF"/>
                </a:solidFill>
                <a:latin typeface="Calibri"/>
              </a:rPr>
              <a:t>Mobile Unit Under Test/Tasking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50592"/>
            <a:ext cx="3657600" cy="3383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06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Navega autonomamente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Grava e reproduz rotas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60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Coleta dados sensoriais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377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Fonte de trajetória repetível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417320"/>
            <a:ext cx="3657600" cy="9601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FUUT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993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FE8FF"/>
                </a:solidFill>
                <a:latin typeface="Calibri"/>
              </a:rPr>
              <a:t>Fixed Unit Under Test/Tasking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450592"/>
            <a:ext cx="3657600" cy="3383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2606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Posição fixa no ambiente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832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Coleta sensores (scan, imu…)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160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Não navega nem grava rotas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9377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Monitorização ambiental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1417320"/>
            <a:ext cx="3657600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19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19933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FE8FF"/>
                </a:solidFill>
                <a:latin typeface="Calibri"/>
              </a:rPr>
              <a:t>Support Unit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2450592"/>
            <a:ext cx="3657600" cy="3383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199" y="26060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Infraestrutura de rede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9" y="33832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Relay / gateway ROS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9" y="41605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Não participa da navegação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9" y="49377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✓  Monitorização do sistema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98932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Pedidos de navegação de FUUT e SU são bloqueados ao nível do orquestrador.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Protocolo record → replay → análise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Seminário de Andamento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1463040"/>
            <a:ext cx="82296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15087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2743200" cy="1783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Record
(Baseline)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274320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25196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Waypoints → Nav2
TF → YAML + bag MCAP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463040"/>
            <a:ext cx="822960" cy="82296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15087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377440"/>
            <a:ext cx="2743200" cy="178308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2423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Replay ×N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160520"/>
            <a:ext cx="274320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9000" y="425196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FollowWaypoints N vezes
1 bag MCAP por repetição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1463040"/>
            <a:ext cx="82296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15087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377440"/>
            <a:ext cx="2743200" cy="1783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2423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Análise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160520"/>
            <a:ext cx="274320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425196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odom dos bags → RMSE
pairwise + overlay PNG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04120" y="1463040"/>
            <a:ext cx="82296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04120" y="15087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2377440"/>
            <a:ext cx="2743200" cy="1783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81160" y="2423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Resultado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4160520"/>
            <a:ext cx="274320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81160" y="425196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summary.json: RMSE
duração, erro endpoint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440680"/>
            <a:ext cx="11457432" cy="5943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5532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350F"/>
                </a:solidFill>
                <a:latin typeface="Calibri"/>
              </a:rPr>
              <a:t>⚠  Entre repetições: go_to_point(0,0,0) para retornar ao ponto de partida — condição necessária para a comparação de trajetórias.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Resultados — Validação em Simulação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Campanha final: 10 réplicas de 1 rota  ·  TurtleBot4  ·  Gazebo Harmonic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Seminário de Andamento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Campanha final — dissertation_clean01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Percurso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0.826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comprimento médio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3756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RMSE médio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3.35 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vs. execução de referência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Erro final médio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1.64 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vs. replay_01 (máx 3.26 cm)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755648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98280" y="1755648"/>
            <a:ext cx="2651760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0" y="1847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Duração média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1214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17.51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5603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desvio 0.36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0906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/>
              </a:rPr>
              <a:t>Validação do mecanismo — dissertacao_teste1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Réplicas entre 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2.00 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mesmo mecanismo (play_route)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3756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7472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Baseline vs réplicas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13.90 cm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mecanismos diferentes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Razão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~7x maior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quando muda o mecanismo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3456432"/>
            <a:ext cx="2651760" cy="1143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098280" y="3456432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35440" y="35478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Duração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38221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11.7s vs 29.5s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261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go_to_point vs play_route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754880"/>
            <a:ext cx="11274552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4754880"/>
            <a:ext cx="9144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5800" y="48280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Repetibilidade entre execuções: RMSE médio 3,35 cm (máx 4,76 cm)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15721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Bem abaixo da tolerância de 25 cm do Nav2 — a métrica correta compara execuções com o mesmo mecanismo de navegação.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Distribuição do RMSE — 10 Réplicas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Campanha dissertation_clean01 — RMSE de cada réplica contra a referência (replay_01)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Seminário de Andamento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Calibri"/>
              </a:rPr>
              <a:t>RMSE por réplica, vs. replay_01 (cm)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Calibri"/>
              </a:rPr>
              <a:t>Estatística da campanha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1127455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2A4A"/>
                </a:solidFill>
                <a:latin typeface="Calibri"/>
              </a:rPr>
              <a:t>Réplica 02: 2,57 · 03: 2,01 · 04: 2,58 · 05: 3,77 · 06: 4,58 · 07: 4,19 · 08: 4,76 · 09: 1,65 · 10: 4,08 cm  —  média 3,35 cm, desvio 1,10 cm, todos abaixo da tolerância de 25 cm do Nav2. Overlay completo em fleet_ws/runs/dissertation_clean01_final_manual/.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Desafios Técnicos Superados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Seminário de Andamento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91440" cy="2103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TF namespaceado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01952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SLAM publica /tb1/tf — buffer global subscrevia /tf → lookup falha silenciosamente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24328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Buffer TF dedicado por robô subscrito a /{rid}/tf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91440" cy="21031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5087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5AC2"/>
                </a:solidFill>
                <a:latin typeface="Calibri"/>
              </a:rPr>
              <a:t>cmd_vel por robô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01952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SDF DiffDrive com /cmd_vel global → ambos respondem ao mesmo comando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24328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SDF gerado em runtime com /{rid}/cmd_vel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91440" cy="2103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840479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Calibri"/>
              </a:rPr>
              <a:t>Timing SLAM /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33671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scan chegava antes do TF estar populado → 'queue is full' infinito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56047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scan_bridge inicia 2 s depois do SLAM (9 s vs 7 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749039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3749039"/>
            <a:ext cx="91440" cy="2103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3840479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Argparse negativo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33671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--points -1.0,0,0 interpretado como flag → crash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956047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--points=VALUE evita ambiguidade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Desafios Recentes — Multi-Robô, CI e Confiabilidade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Seminário de Andamento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91440" cy="2103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Xacro multi-robô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01952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DiffDrive do TurtleBot4 publicava /cmd_vel global — 1 comando movia todos os robôs ao mesmo tempo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24328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Xacro forkado: todo tópico gz-transport prefixado por /{robot_id}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91440" cy="21031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5087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5AC2"/>
                </a:solidFill>
                <a:latin typeface="Calibri"/>
              </a:rPr>
              <a:t>CI não testava a parte 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01952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Testes que dependiam de ROS eram pulados (skip) em silêncio no CI — badge verde não provava nada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24328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Novo job de CI com ROS 2 real — falha se qualquer teste ROS for pulado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91440" cy="2103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840479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Calibri"/>
              </a:rPr>
              <a:t>Repetibilidade mal-medida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33671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Análise usava odometria bruta em vez da pose do SLAM — inflava o RMSE por deriva, não por repetibilidade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56047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Corrigido: prioriza pose do SLAM; MPPI documentado como fonte de variância conhecida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749039"/>
            <a:ext cx="566928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3749039"/>
            <a:ext cx="91440" cy="2103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3840479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Processos órfãos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33671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E185D"/>
                </a:solidFill>
                <a:latin typeface="Calibri"/>
              </a:rPr>
              <a:t>🔴  Simulação antiga ficava rodando junto com a nova — falhas imprevisíveis (UNKNOWN_ROBOT)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956047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8050"/>
                </a:solidFill>
                <a:latin typeface="Calibri"/>
              </a:rPr>
              <a:t>✅  os.setsid + os.killpg no painel de simulação — mata a árvore inteira, sem processo órfão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Trabalho Futuro e Conclusão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Seminário de Andamento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Próximas etapas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73152" cy="54864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79222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Definir metodologia: baseline via play_route, não só go_to_point sequencial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96312"/>
            <a:ext cx="73152" cy="54864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5117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Backend nativo ROS 2 — substituir subprocess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55263"/>
            <a:ext cx="73152" cy="54864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7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Avaliar se a camada de agentes de IA degrada a repetibilidade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14215"/>
            <a:ext cx="73152" cy="5486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06907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Validação em hardware real — TurtleBot4 físico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73168"/>
            <a:ext cx="73152" cy="5486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82803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Conexão SSH real para robôs na rede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532119"/>
            <a:ext cx="73152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586983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Análise estatística multi-sessão (variabilidade inter-dia)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234440"/>
            <a:ext cx="5303520" cy="4983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Conclusão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1920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✓  Framework funcional em simulação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67004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E7B7"/>
                </a:solidFill>
                <a:latin typeface="Calibri"/>
              </a:rPr>
              <a:t>✓  RMSE médio 3,35 cm (máx 4,76 cm) entre réplicas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41985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E7B7"/>
                </a:solidFill>
                <a:latin typeface="Calibri"/>
              </a:rPr>
              <a:t>✓  Multi-robô via ativação sequencial (2 robôs, 70% sucesso) + camada de agentes de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16966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E7B7"/>
                </a:solidFill>
                <a:latin typeface="Calibri"/>
              </a:rPr>
              <a:t>✓  CI valida a parte ROS de verdade a cada 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91947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BF24"/>
                </a:solidFill>
                <a:latin typeface="Calibri"/>
              </a:rPr>
              <a:t>→  Próximo: baseline via play_route + avaliar impacto dos agentes de 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989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FDBFF"/>
                </a:solidFill>
                <a:latin typeface="Calibri"/>
              </a:rPr>
              <a:t>Obrigado — Questões?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225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Fonte de Trajetória: Odometria, SLAM e 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Calibri"/>
              </a:rPr>
              <a:t>odom vs. pose (SLAM) vs. ground truth nativo do Gazebo  ·  3 rotas, 10 réplicas cada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Seminário de Andamento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56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FDBFF"/>
                </a:solidFill>
                <a:latin typeface="Calibri"/>
              </a:rPr>
              <a:t>Eduardo Wanderley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Calibri"/>
              </a:rPr>
              <a:t>RMSE vs. Ground Truth, por rota (N=10)</a:t>
            </a:r>
          </a:p>
        </p:txBody>
      </p:sp>
      <p:pic>
        <p:nvPicPr>
          <p:cNvPr id="60" name="Picture 60" descr="RMSE medio vs ground truth, por rota e fonte de trajetor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5000000" cy="3214286"/>
          </a:xfrm>
          <a:prstGeom prst="rect">
            <a:avLst/>
          </a:prstGeom>
        </p:spPr>
      </p:pic>
      <p:sp>
        <p:nvSpPr>
          <p:cNvPr id="61" name="Rectangle 61"/>
          <p:cNvSpPr/>
          <p:nvPr/>
        </p:nvSpPr>
        <p:spPr>
          <a:xfrm>
            <a:off x="5757200" y="1755648"/>
            <a:ext cx="5974552" cy="145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2"/>
          <p:cNvSpPr/>
          <p:nvPr/>
        </p:nvSpPr>
        <p:spPr>
          <a:xfrm>
            <a:off x="5757200" y="1755648"/>
            <a:ext cx="5974552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3"/>
          <p:cNvSpPr txBox="1"/>
          <p:nvPr/>
        </p:nvSpPr>
        <p:spPr>
          <a:xfrm>
            <a:off x="5894360" y="1847088"/>
            <a:ext cx="5700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Maior diferença — Rota Loop (~11,3 m, 4 curvas)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894360" y="2175648"/>
            <a:ext cx="5700232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~12 cm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894360" y="2705648"/>
            <a:ext cx="5700232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odom 14,27 cm  vs.  pose 2,45 cm</a:t>
            </a:r>
          </a:p>
        </p:txBody>
      </p:sp>
      <p:sp>
        <p:nvSpPr>
          <p:cNvPr id="66" name="Rectangle 66"/>
          <p:cNvSpPr/>
          <p:nvPr/>
        </p:nvSpPr>
        <p:spPr>
          <a:xfrm>
            <a:off x="5757200" y="3355648"/>
            <a:ext cx="5974552" cy="145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7"/>
          <p:cNvSpPr/>
          <p:nvPr/>
        </p:nvSpPr>
        <p:spPr>
          <a:xfrm>
            <a:off x="5757200" y="3355648"/>
            <a:ext cx="5974552" cy="548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8"/>
          <p:cNvSpPr txBox="1"/>
          <p:nvPr/>
        </p:nvSpPr>
        <p:spPr>
          <a:xfrm>
            <a:off x="5894360" y="3447088"/>
            <a:ext cx="5700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Rota Curta (~0,9 m) — mesma da campanha principal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894360" y="3775648"/>
            <a:ext cx="5700232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libri"/>
              </a:rPr>
              <a:t>&lt; 4 cm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894360" y="4305648"/>
            <a:ext cx="5700232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odom 0,01 cm  vs.  pose 3,28 cm — diferença desprezível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100000"/>
            <a:ext cx="11274552" cy="950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5100000"/>
            <a:ext cx="91440" cy="95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5800" y="51731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Rota curta: diferença desprezível (&lt; 4 cm) — valida a escolha metodológica da campanha principal.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54062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Em rotas mais longas, a diferença chega a ~12 cm — a fonte de trajetória passa a importar para a conclusão sobre repetibilidade.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1477</Words>
  <Application>Microsoft Office PowerPoint</Application>
  <PresentationFormat>Personalizar</PresentationFormat>
  <Paragraphs>212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Eduardo Wanderley</cp:lastModifiedBy>
  <cp:revision>2</cp:revision>
  <dcterms:created xsi:type="dcterms:W3CDTF">2013-01-27T09:14:16Z</dcterms:created>
  <dcterms:modified xsi:type="dcterms:W3CDTF">2026-09-25T17:22:03Z</dcterms:modified>
  <cp:category/>
</cp:coreProperties>
</file>
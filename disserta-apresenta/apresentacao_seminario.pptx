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7" r:id="rId18"/>
    <p:sldId id="261" r:id="rId12"/>
    <p:sldId id="262" r:id="rId13"/>
    <p:sldId id="263" r:id="rId14"/>
    <p:sldId id="264" r:id="rId15"/>
    <p:sldId id="265" r:id="rId16"/>
    <p:sldId id="268" r:id="rId19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  <Relationship Id="rId18" Type="http://schemas.openxmlformats.org/officeDocument/2006/relationships/slide" Target="slides/slide12.xml"/>
  <Relationship Id="rId19" Type="http://schemas.openxmlformats.org/officeDocument/2006/relationships/slide" Target="slides/slide13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54864" cy="685800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111827"/>
                </a:solidFill>
                <a:latin typeface="Calibri"/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108960"/>
            <a:ext cx="4023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6EE7B7"/>
                </a:solidFill>
                <a:latin typeface="Calibri"/>
              </a:rPr>
              <a:t>Fleet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70332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FDBFF"/>
                </a:solidFill>
                <a:latin typeface="Calibri"/>
              </a:rPr>
              <a:t>Seminário de Andamento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64592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Calibri"/>
              </a:rPr>
              <a:t>Framework para Experimentos de
Repetibilidade em Robótica Móvel
com ROS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356616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Eduardo Wanderley
Mestrado em Robótica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01.  Motivação e contexto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4864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02.  Objectivos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5486400" cy="10058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03.  Arquitectura do sistema + Agentes de 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606040"/>
            <a:ext cx="5486400" cy="10058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880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04.  Papéis experimentais (MUUT / FUUT / SU)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548640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114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05.  Metodologia — record / replay / análise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40480"/>
            <a:ext cx="5486400" cy="10058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114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06.  Resultados de repetibilidade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5486400" cy="100584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349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07.  Desafios técnicos e de confiabilidade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5074920"/>
            <a:ext cx="548640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5349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08.  Trabalho futuro e conclusão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Motivação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Por que este trabalho é relevante?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2A4A"/>
                </a:solidFill>
                <a:latin typeface="Calibri"/>
              </a:rPr>
              <a:t>• Reprodutibilidade é um pilar da ciência experimental em robótica</a:t>
            </a:r>
          </a:p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    • Resultados devem ser replicáveis para ter validade científica</a:t>
            </a:r>
          </a:p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    • Sistemas multi-robô adicionam complexidade: sincronização, sensores heterogéneos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Calibri"/>
              </a:rPr>
              <a:t>• </a:t>
            </a:r>
          </a:p>
          <a:p>
            <a:pPr algn="l"/>
            <a:r>
              <a:rPr sz="1800" b="1">
                <a:solidFill>
                  <a:srgbClr val="1B2A4A"/>
                </a:solidFill>
                <a:latin typeface="Calibri"/>
              </a:rPr>
              <a:t>• Lacuna identificada</a:t>
            </a:r>
          </a:p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    • Ausência de frameworks open-source que integrem: controlo de frota + coleta síncrona + análise</a:t>
            </a:r>
          </a:p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    • Interfaces ROS 2 complexas dificultam a configuração por investigadores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Calibri"/>
              </a:rPr>
              <a:t>• </a:t>
            </a:r>
          </a:p>
          <a:p>
            <a:pPr algn="l"/>
            <a:r>
              <a:rPr sz="1800" b="1">
                <a:solidFill>
                  <a:srgbClr val="059669"/>
                </a:solidFill>
                <a:latin typeface="Calibri"/>
              </a:rPr>
              <a:t>• Proposta</a:t>
            </a:r>
          </a:p>
          <a:p>
            <a:pPr algn="l"/>
            <a:r>
              <a:rPr sz="1600" b="0">
                <a:solidFill>
                  <a:srgbClr val="1B2A4A"/>
                </a:solidFill>
                <a:latin typeface="Calibri"/>
              </a:rPr>
              <a:t>    • Framework completo: orquestração → coleta → análise de repetibilidade</a:t>
            </a:r>
          </a:p>
          <a:p>
            <a:pPr algn="l"/>
            <a:r>
              <a:rPr sz="1600" b="0">
                <a:solidFill>
                  <a:srgbClr val="1B2A4A"/>
                </a:solidFill>
                <a:latin typeface="Calibri"/>
              </a:rPr>
              <a:t>    • Interface web que abstrai a complexidade do ROS 2</a:t>
            </a:r>
          </a:p>
          <a:p>
            <a:pPr algn="l"/>
            <a:r>
              <a:rPr sz="1600" b="0">
                <a:solidFill>
                  <a:srgbClr val="1B2A4A"/>
                </a:solidFill>
                <a:latin typeface="Calibri"/>
              </a:rPr>
              <a:t>    • Arquitectura de papéis para testbeds distribuídos (MUUT / FUUT / SU)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Objectivos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1274552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536192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Geral: Desenvolver e validar um framework de orquestração multi-robô orientado a experimentos reprodutíveis de navegação autónoma com ROS 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457200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432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Orquestrador ROS 2 com serviços record / replay / go_to_point e controlo de papéis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457200" cy="5943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4015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Coleta síncrona de dados sensoriais em MCAP (scan, odom, imu, pose)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69080"/>
            <a:ext cx="457200" cy="5943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178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Pipeline de análise: RMSE pairwise, comprimento de percurso, overlay visual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457200" cy="594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956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Interface web para controlo de experimentos sem exposição ao ROS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23560"/>
            <a:ext cx="457200" cy="594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715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7332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Validação em simulação Gazebo + preparação para hardware real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Arquitectura do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Camadas do framework fleet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57432" cy="804672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7218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Interface Web (Fleet UI)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37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React + Vite  ·  FastAPI  ·  Editor JSON  ·  Painel multi-robô  ·  Painel de Agentes de 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11457432" cy="8046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3230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Orquestrador  (fleet_orchestrator)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79806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7 serviços ROS 2  ·  Record / Replay  ·  Nav2 Actions  ·  Até 3 robôs simultâneos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37560"/>
            <a:ext cx="11457432" cy="8046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Coleta de Dados  (fleet_data_collector)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5818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Bags MCAP por robô  ·  QoS adaptado  ·  scan / odom / imu / 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97680"/>
            <a:ext cx="11457432" cy="80467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35254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Navegação  (Nav2 + SLAM Toolbox)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71830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NavigateToPose / FollowWaypoints  ·  SLAM async  ·  TF namespaceado por robô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57800"/>
            <a:ext cx="11457432" cy="80467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31266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Simulação  (Gazebo Harmonic)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67842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TurtleBot4 (até 3 robôs)  ·  Xacro namespaceado  ·  gz-transport prefixado por robô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Papéis Experimentais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Arquitectura de responsabilidades por unidade robótica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57600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MUUT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Mobile Unit Under Test/Tasking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Navega autonomamente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Grava e reproduz rotas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Coleta dados sensoriais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Fonte de trajectória repetível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417320"/>
            <a:ext cx="3657600" cy="960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Fixed Unit Under Test/Tasking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Posição fixa no ambiente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Coleta sensores (scan, imu…)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Não navega nem grava rotas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Monitorização ambiental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1417320"/>
            <a:ext cx="3657600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19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Support Unit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199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Infraestrutura de rede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9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Relay / gateway ROS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9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Não participa da navegação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9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Monitorização do sistema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98932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Pedidos de navegação de FUUT e SU são bloqueados ao nível do orquestrador.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Metodologia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Protocolo record → replay → análise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1463040"/>
            <a:ext cx="82296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2743200" cy="17830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Record
(Baseline)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Waypoints → Nav2
TF → YAML + bag MCAP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1463040"/>
            <a:ext cx="822960" cy="8229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6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2377440"/>
            <a:ext cx="2743200" cy="178308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Replay ×N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2900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FollowWaypoints N vezes
1 bag MCAP por repetição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1463040"/>
            <a:ext cx="82296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377440"/>
            <a:ext cx="2743200" cy="1783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Análise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odom dos bags → RMSE
pairwise + overlay PNG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04120" y="1463040"/>
            <a:ext cx="822960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0412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2377440"/>
            <a:ext cx="2743200" cy="1783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8116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8116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summary.json: RMSE
duração, erro endpoint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440680"/>
            <a:ext cx="11457432" cy="59436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532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350F"/>
                </a:solidFill>
                <a:latin typeface="Calibri"/>
              </a:rPr>
              <a:t>⚠  Entre repetições: go_to_point(0,0,0) para retornar ao ponto de partida — condição necessária para a comparação de trajectórias.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Resultados — Validação em Simulação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Campanha final: 10 réplicas de 1 rota  ·  TurtleBot4  ·  Gazebo Harmonic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Campanha final — dissertation_clean01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Percurso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0.826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comprimento médio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756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RMSE médio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3.35 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vs. execução de referência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Erro final médio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1.64 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vs. replay_01 (máx 3.26 cm)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9828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Duração média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17.51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desvio 0.36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90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Calibri"/>
              </a:rPr>
              <a:t>Validação do mecanismo — dissertacao_teste1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Réplicas entre 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2.00 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mesmo mecanismo (play_route)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3756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Baseline vs réplicas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13.90 cm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mecanismos diferentes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Razão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~7x maior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quando muda o mecanismo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9828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Duração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11.7s vs 29.5s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go_to_point vs play_route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74552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200" y="475488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580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Repetibilidade entre execuções: RMSE médio 3,35 cm (máx 4,76 cm)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Bem abaixo da tolerância de 25 cm do Nav2 — a métrica correta compara execuções com o mesmo mecanismo de navegação.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Distribuição do RMSE — 10 Réplicas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Campanha dissertation_clean01 — RMSE de cada réplica contra a referência (replay_01)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A4A"/>
                </a:solidFill>
                <a:latin typeface="Calibri"/>
              </a:rPr>
              <a:t>RMSE por réplica, vs. replay_01 (cm)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25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59669"/>
                </a:solidFill>
                <a:latin typeface="Calibri"/>
              </a:rPr>
              <a:t>Estatística da campanha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828800"/>
            <a:ext cx="11274552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B2A4A"/>
                </a:solidFill>
                <a:latin typeface="Calibri"/>
              </a:rPr>
              <a:t>Réplica 02: 2,57 · 03: 2,01 · 04: 2,58 · 05: 3,77 · 06: 4,58 · 07: 4,19 · 08: 4,76 · 09: 1,65 · 10: 4,08 cm  —  média 3,35 cm, desvio 1,10 cm, todos abaixo da tolerância de 25 cm do Nav2. Overlay completo em fleet_ws/runs/dissertation_clean01_final_manual/.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Desafios Técnicos Superados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91440" cy="2103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TF namespaceado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SLAM publica /tb1/tf — buffer global subscrevia /tf → lookup falha silenciosamente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Buffer TF dedicado por robô subscrito a /{rid}/tf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91440" cy="2103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5AC2"/>
                </a:solidFill>
                <a:latin typeface="Calibri"/>
              </a:rPr>
              <a:t>cmd_vel por robô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SDF DiffDrive com /cmd_vel global → ambos respondem ao mesmo comando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SDF gerado em runtime com /{rid}/cmd_vel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91440" cy="2103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Timing SLAM / scan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scan chegava antes do TF estar populado → 'queue is full' infinito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scan_bridge inicia 2 s depois do SLAM (9 s vs 7 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3749039"/>
            <a:ext cx="91440" cy="2103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580C"/>
                </a:solidFill>
                <a:latin typeface="Calibri"/>
              </a:rPr>
              <a:t>Argparse negativo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--points -1.0,0,0 interpretado como flag → crash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--points=VALUE evita ambiguidade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Trabalho Futuro e Conclusão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Próximas etapas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9222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Definir metodologia: baseline via play_route, não só go_to_point sequencial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96312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5117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Backend nativo ROS 2 — substituir subprocess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55263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10127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Campanha com N maior (10–20 réplicas) para significância estatística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14215"/>
            <a:ext cx="73152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069079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Validação em hardware real — TurtleBot4 físico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73168"/>
            <a:ext cx="73152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82803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Conexão SSH real para robôs na rede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532119"/>
            <a:ext cx="73152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586983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Análise estatística multi-sessão (variabilidade inter-dia)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234440"/>
            <a:ext cx="5303520" cy="4983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19202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✓  Framework funcional em simulação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2670048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RMSE médio 3,35 cm (máx 4,76 cm) entre réplicas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419856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Multi-robô operacional (2 robôs simultâneos, validado) + camada de agentes de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169664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CI valida a parte ROS de verdade a cada push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919472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BBF24"/>
                </a:solidFill>
                <a:latin typeface="Calibri"/>
              </a:rPr>
              <a:t>→  Próximo: metodologia baseline/replay + campanha estatística maior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9893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FDBFF"/>
                </a:solidFill>
                <a:latin typeface="Calibri"/>
              </a:rPr>
              <a:t>Obrigado — Questões?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Camada de Agentes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Planejamento, execução e análise via linguagem natural (API Claude/Anthropic)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57600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Planner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Decide os passos do experimento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Interpreta o pedido em português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Decide quais ferramentas chamar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Escopado a 1 robô por vez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Roda sobre a API da Anthropic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417320"/>
            <a:ext cx="3657600" cy="960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Executor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Fala com o Fleet UI de verdade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Chama os endpoints REST do 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record / replay / go_to_point / campanha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Sem acesso directo ao ROS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Mesma API que a interface web usa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1417320"/>
            <a:ext cx="3657600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19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Interpreta resultados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199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Lê summary.json (RMSE, duração)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9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Aponta execuções fora do esperado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9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Sugere causa provável do desvio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9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Só leitura — nunca executa nada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98932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Cada agente só actua no seu próprio robô — um agente nunca move o robô de outro.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Desafios Recentes — Multi-Robô, CI e Confiabilidade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91440" cy="2103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Xacro multi-robô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DiffDrive do TurtleBot4 publicava /cmd_vel global — 1 comando movia todos os robôs ao mesmo tempo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Xacro forkado: todo tópico gz-transport prefixado por /{robot_id}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91440" cy="2103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5AC2"/>
                </a:solidFill>
                <a:latin typeface="Calibri"/>
              </a:rPr>
              <a:t>CI não testava a parte 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Testes que dependiam de ROS eram pulados (skip) em silêncio no CI — badge verde não provava nada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Novo job de CI com ROS 2 real — falha se qualquer teste ROS for pulado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91440" cy="2103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Repetibilidade mal-medida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Análise usava odometria bruta em vez da pose do SLAM — inflava o RMSE por deriva, não por repetibilidade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Corrigido: prioriza pose do SLAM; MPPI documentado como fonte de variância conhecida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3749039"/>
            <a:ext cx="91440" cy="2103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580C"/>
                </a:solidFill>
                <a:latin typeface="Calibri"/>
              </a:rPr>
              <a:t>Processos órfãos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Simulação antiga ficava rodando junto com a nova — falhas imprevisíveis (UNKNOWN_ROBOT)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os.setsid + os.killpg no painel de simulação — mata a árvore inteira, sem processo órfão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